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7" r:id="rId9"/>
    <p:sldId id="261" r:id="rId10"/>
    <p:sldId id="263" r:id="rId11"/>
    <p:sldId id="260" r:id="rId12"/>
    <p:sldId id="262" r:id="rId13"/>
    <p:sldId id="269" r:id="rId14"/>
    <p:sldId id="264" r:id="rId15"/>
    <p:sldId id="265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5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image" Target="../media/image7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6.png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5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4.png"/><Relationship Id="rId2" Type="http://schemas.openxmlformats.org/officeDocument/2006/relationships/tags" Target="../tags/tag13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image" Target="../media/image7.png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6.png"/><Relationship Id="rId10" Type="http://schemas.openxmlformats.org/officeDocument/2006/relationships/tags" Target="../tags/tag19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image" Target="../media/image10.png"/><Relationship Id="rId2" Type="http://schemas.openxmlformats.org/officeDocument/2006/relationships/tags" Target="../tags/tag31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428875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基于大模型的社交机器人检测研究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3171825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3905250"/>
            <a:ext cx="604838" cy="114300"/>
          </a:xfrm>
          <a:prstGeom prst="rect">
            <a:avLst/>
          </a:prstGeom>
          <a:solidFill>
            <a:srgbClr val="5DCAEF"/>
          </a:solidFill>
        </p:spPr>
      </p:sp>
      <p:sp>
        <p:nvSpPr>
          <p:cNvPr id="6" name="Text 3"/>
          <p:cNvSpPr/>
          <p:nvPr/>
        </p:nvSpPr>
        <p:spPr>
          <a:xfrm>
            <a:off x="571500" y="4352925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张天翼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第一章 模型训练方案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336F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采用离线监督学习范式，基于标注数据训练文本融合分类模型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2019300"/>
            <a:ext cx="2085975" cy="22669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52475" y="307895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损失函数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52475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CrossEntropyLoss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2486025" y="2019300"/>
            <a:ext cx="2085975" cy="22669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838450" y="2969101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优化器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838450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AdamW</a:t>
            </a:r>
            <a:endParaRPr 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（优化更稳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不易过拟合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572000" y="2019300"/>
            <a:ext cx="2085975" cy="22669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924425" y="307895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最优模型保存依据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924425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验证集`F1`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6657975" y="2019300"/>
            <a:ext cx="2085975" cy="22669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7010400" y="307895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训练加速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7010400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混合精度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当前文本分类模型是`TextFusionClassifier`，核心结构包括：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331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历史文本向量编码器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35718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将历史内容转为语义向量，</a:t>
            </a:r>
            <a:endParaRPr lang="en-US" sz="1050" dirty="0"/>
          </a:p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表征行为风格 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23431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简介向量编码器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25955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将账号简介转为语义向量，</a:t>
            </a:r>
            <a:endParaRPr lang="en-US" sz="1050" dirty="0"/>
          </a:p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表征基础属性 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186488" y="23431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门控融合层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86488" y="25955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自适应加权融合两类向量，生成统一账号特征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186488" y="33194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二分类输出层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86488" y="35718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输出账号为机器人 / 正常用户的分类结果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016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dirty="0"/>
              <a:t>训练程序在每轮训练结束后都会扫描不同阈值下的评估指标</a:t>
            </a:r>
            <a:endParaRPr lang="zh-CN" alt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2019300"/>
            <a:ext cx="2085975" cy="22669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52475" y="278812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altLang="zh-CN" sz="1200" dirty="0"/>
              <a:t>Accuracy</a:t>
            </a:r>
            <a:endParaRPr lang="en-US" altLang="zh-CN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52475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/>
              <a:t>表示预测正确的样本占总样本的比例</a:t>
            </a:r>
            <a:endParaRPr lang="zh-CN" alt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2486025" y="2019300"/>
            <a:ext cx="2085975" cy="22669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838450" y="2784951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altLang="zh-CN" sz="1200" dirty="0"/>
              <a:t>Precision</a:t>
            </a:r>
            <a:endParaRPr lang="en-US" altLang="zh-CN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838450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/>
              <a:t>精确率，是核心评估指标之一，专门用来衡量</a:t>
            </a:r>
            <a:r>
              <a:rPr lang="zh-CN" altLang="en-US" sz="1050" dirty="0"/>
              <a:t>模型预测的准不准。</a:t>
            </a:r>
            <a:endParaRPr lang="zh-CN" alt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572000" y="2019300"/>
            <a:ext cx="2085975" cy="22669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924425" y="278812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altLang="zh-CN" sz="1200" dirty="0"/>
              <a:t>Recall</a:t>
            </a:r>
            <a:endParaRPr lang="en-US" altLang="zh-CN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924425" y="33313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/>
              <a:t>被模型成功识别出来的比例</a:t>
            </a:r>
            <a:endParaRPr lang="zh-CN" alt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6657975" y="2019300"/>
            <a:ext cx="2085975" cy="22669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7010400" y="278812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altLang="zh-CN" sz="1200" dirty="0"/>
              <a:t>F1-score</a:t>
            </a:r>
            <a:endParaRPr lang="en-US" altLang="zh-CN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7010400" y="3369469"/>
            <a:ext cx="13811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/>
              <a:t>Precision </a:t>
            </a:r>
            <a:r>
              <a:rPr lang="zh-CN" altLang="en-US" sz="1050" dirty="0"/>
              <a:t>和</a:t>
            </a:r>
            <a:r>
              <a:rPr lang="en-US" altLang="zh-CN" sz="1050" dirty="0"/>
              <a:t> Recall </a:t>
            </a:r>
            <a:r>
              <a:rPr lang="zh-CN" altLang="en-US" sz="1050" dirty="0"/>
              <a:t>的调和平均值，是文本分类任务中非常常用的综合评价指标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dirty="0">
                <a:solidFill>
                  <a:schemeClr val="bg1"/>
                </a:solidFill>
              </a:rPr>
              <a:t>模型训练流程</a:t>
            </a:r>
            <a:endParaRPr lang="zh-CN" altLang="en-US" sz="225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/>
              <a:t>设备配置</a:t>
            </a:r>
            <a:endParaRPr lang="zh-CN" altLang="en-US" sz="1200" b="1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571500" y="2317115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/>
              <a:t>优先使用</a:t>
            </a:r>
            <a:r>
              <a:rPr lang="en-US" altLang="zh-CN" sz="1050" dirty="0"/>
              <a:t> GPU</a:t>
            </a:r>
            <a:r>
              <a:rPr lang="zh-CN" altLang="en-US" sz="1050" dirty="0"/>
              <a:t>，开启</a:t>
            </a:r>
            <a:r>
              <a:rPr lang="en-US" altLang="zh-CN" sz="1050" dirty="0"/>
              <a:t>torch.set_float32_matmul_precision("high")</a:t>
            </a:r>
            <a:r>
              <a:rPr lang="zh-CN" altLang="en-US" sz="1050" dirty="0"/>
              <a:t>优化矩阵乘法精度</a:t>
            </a:r>
            <a:endParaRPr lang="zh-CN" altLang="en-US" sz="1050" dirty="0"/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/>
              <a:t>多</a:t>
            </a:r>
            <a:r>
              <a:rPr lang="en-US" altLang="zh-CN" sz="1200" b="1" dirty="0"/>
              <a:t> GPU </a:t>
            </a:r>
            <a:r>
              <a:rPr lang="zh-CN" altLang="en-US" sz="1200" b="1" dirty="0"/>
              <a:t>支持</a:t>
            </a:r>
            <a:endParaRPr lang="zh-CN" altLang="en-US" sz="1200" b="1" dirty="0"/>
          </a:p>
        </p:txBody>
      </p: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3365500" y="22479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/>
              <a:t>通过</a:t>
            </a:r>
            <a:r>
              <a:rPr lang="en-US" altLang="zh-CN" sz="1050" dirty="0"/>
              <a:t>nn.DataParallel</a:t>
            </a:r>
            <a:r>
              <a:rPr lang="zh-CN" altLang="en-US" sz="1050" dirty="0"/>
              <a:t>实现双</a:t>
            </a:r>
            <a:r>
              <a:rPr lang="en-US" altLang="zh-CN" sz="1050" dirty="0"/>
              <a:t> GPU </a:t>
            </a:r>
            <a:r>
              <a:rPr lang="zh-CN" altLang="en-US" sz="1050" dirty="0"/>
              <a:t>并行训练</a:t>
            </a:r>
            <a:endParaRPr lang="zh-CN" altLang="en-US" sz="105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/>
              <a:t>训练循环</a:t>
            </a:r>
            <a:endParaRPr lang="zh-CN" altLang="en-US" sz="1200" b="1" dirty="0"/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6159500" y="26670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/>
              <a:t>1</a:t>
            </a:r>
            <a:r>
              <a:rPr lang="zh-CN" altLang="en-US" sz="1050" dirty="0"/>
              <a:t>、每个</a:t>
            </a:r>
            <a:r>
              <a:rPr lang="en-US" altLang="zh-CN" sz="1050" dirty="0"/>
              <a:t> epoch </a:t>
            </a:r>
            <a:r>
              <a:rPr lang="zh-CN" altLang="en-US" sz="1050" dirty="0"/>
              <a:t>遍历训练集，前向传播计算损失，反向传播更新参数；</a:t>
            </a:r>
            <a:endParaRPr lang="zh-CN" altLang="en-US" sz="10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/>
              <a:t>2</a:t>
            </a:r>
            <a:r>
              <a:rPr lang="zh-CN" altLang="en-US" sz="1050" dirty="0"/>
              <a:t>、验证集评估：每个</a:t>
            </a:r>
            <a:r>
              <a:rPr lang="en-US" altLang="zh-CN" sz="1050" dirty="0"/>
              <a:t> epoch </a:t>
            </a:r>
            <a:r>
              <a:rPr lang="zh-CN" altLang="en-US" sz="1050" dirty="0"/>
              <a:t>结束后在验证集计算准确率、精确率、召回率、</a:t>
            </a:r>
            <a:r>
              <a:rPr lang="en-US" altLang="zh-CN" sz="1050" dirty="0"/>
              <a:t>F1</a:t>
            </a:r>
            <a:r>
              <a:rPr lang="zh-CN" altLang="en-US" sz="1050" dirty="0"/>
              <a:t>；</a:t>
            </a:r>
            <a:endParaRPr lang="zh-CN" altLang="en-US" sz="105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/>
              <a:t>3</a:t>
            </a:r>
            <a:r>
              <a:rPr lang="zh-CN" altLang="en-US" sz="1050" dirty="0"/>
              <a:t>、最优模型保存：按验证集</a:t>
            </a:r>
            <a:r>
              <a:rPr lang="en-US" altLang="zh-CN" sz="1050" dirty="0"/>
              <a:t> F1 </a:t>
            </a:r>
            <a:r>
              <a:rPr lang="zh-CN" altLang="en-US" sz="1050" dirty="0"/>
              <a:t>值保存最优模型权重；</a:t>
            </a:r>
            <a:endParaRPr lang="zh-CN" altLang="en-US" sz="1050" dirty="0"/>
          </a:p>
        </p:txBody>
      </p:sp>
      <p:sp>
        <p:nvSpPr>
          <p:cNvPr id="13" name="文本框 12"/>
          <p:cNvSpPr txBox="1"/>
          <p:nvPr/>
        </p:nvSpPr>
        <p:spPr>
          <a:xfrm>
            <a:off x="3241675" y="2814320"/>
            <a:ext cx="191389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单</a:t>
            </a:r>
            <a:r>
              <a:rPr lang="en-US" altLang="zh-CN" sz="800"/>
              <a:t> GPU</a:t>
            </a:r>
            <a:r>
              <a:rPr lang="zh-CN" altLang="en-US" sz="800"/>
              <a:t>太慢、显存不够，训练跑不动</a:t>
            </a:r>
            <a:endParaRPr lang="zh-CN" altLang="en-US" sz="800"/>
          </a:p>
          <a:p>
            <a:endParaRPr lang="zh-CN" altLang="en-US" sz="800"/>
          </a:p>
          <a:p>
            <a:r>
              <a:rPr lang="en-US" altLang="zh-CN" sz="800"/>
              <a:t>1</a:t>
            </a:r>
            <a:r>
              <a:rPr lang="zh-CN" altLang="en-US" sz="800"/>
              <a:t>、训练更快</a:t>
            </a:r>
            <a:endParaRPr lang="zh-CN" altLang="en-US" sz="800"/>
          </a:p>
          <a:p>
            <a:r>
              <a:rPr lang="en-US" altLang="zh-CN" sz="800"/>
              <a:t>2</a:t>
            </a:r>
            <a:r>
              <a:rPr lang="zh-CN" altLang="en-US" sz="800"/>
              <a:t>、不爆显存</a:t>
            </a:r>
            <a:endParaRPr lang="zh-CN" altLang="en-US" sz="800"/>
          </a:p>
          <a:p>
            <a:r>
              <a:rPr lang="en-US" altLang="zh-CN" sz="800"/>
              <a:t>3</a:t>
            </a:r>
            <a:r>
              <a:rPr lang="zh-CN" altLang="en-US" sz="800"/>
              <a:t>、能跑更大模型</a:t>
            </a:r>
            <a:endParaRPr lang="zh-CN" altLang="en-US" sz="800"/>
          </a:p>
          <a:p>
            <a:r>
              <a:rPr lang="en-US" altLang="zh-CN" sz="800"/>
              <a:t>4</a:t>
            </a:r>
            <a:r>
              <a:rPr lang="zh-CN" altLang="en-US" sz="800"/>
              <a:t>、硬件不浪费</a:t>
            </a:r>
            <a:endParaRPr lang="zh-CN" alt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/>
              <a:t>混合精度训练说明</a:t>
            </a:r>
            <a:endParaRPr lang="zh-CN" altLang="en-US" sz="2250" b="1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2000250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828675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71525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dirty="0"/>
              <a:t>初始化缩放器</a:t>
            </a:r>
            <a:endParaRPr lang="zh-CN" altLang="en-US" sz="120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771525" y="2945606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altLang="zh-CN" sz="1050" dirty="0"/>
              <a:t>torch.amp.GradScaler</a:t>
            </a:r>
            <a:r>
              <a:rPr lang="zh-CN" altLang="en-US" sz="1050" dirty="0"/>
              <a:t>用于梯度缩放，仅在开启</a:t>
            </a:r>
            <a:r>
              <a:rPr lang="en-US" altLang="zh-CN" sz="1050" dirty="0"/>
              <a:t>mixed-precision</a:t>
            </a:r>
            <a:r>
              <a:rPr lang="zh-CN" altLang="en-US" sz="1050" dirty="0"/>
              <a:t>且有</a:t>
            </a:r>
            <a:r>
              <a:rPr lang="en-US" altLang="zh-CN" sz="1050" dirty="0"/>
              <a:t> GPU </a:t>
            </a:r>
            <a:r>
              <a:rPr lang="zh-CN" altLang="en-US" sz="1050" dirty="0"/>
              <a:t>时生效</a:t>
            </a:r>
            <a:endParaRPr lang="zh-CN" altLang="en-US" sz="105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2795588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CC8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2738438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dirty="0"/>
              <a:t>自动混合精度上下文</a:t>
            </a:r>
            <a:endParaRPr lang="zh-CN" alt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2737803" y="3155156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torch.amp.autocast("cuda")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上下文内，模型前向传播的浮点运算（如矩阵乘法、激活函数）自动从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FP32 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转为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FP16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，减少显存占用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4762500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4705350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zh-CN" altLang="en-US" sz="1200" dirty="0"/>
              <a:t>梯度缩放与更新</a:t>
            </a:r>
            <a:endParaRPr lang="zh-CN" altLang="en-US" sz="120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4705350" y="3155156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zh-CN" altLang="en-US" sz="1050" dirty="0"/>
              <a:t>由于</a:t>
            </a:r>
            <a:r>
              <a:rPr lang="en-US" altLang="zh-CN" sz="1050" dirty="0"/>
              <a:t> FP16 </a:t>
            </a:r>
            <a:r>
              <a:rPr lang="zh-CN" altLang="en-US" sz="1050" dirty="0"/>
              <a:t>数值范围小，直接计算梯度易出现下溢，通过</a:t>
            </a:r>
            <a:r>
              <a:rPr lang="en-US" altLang="zh-CN" sz="1050" dirty="0"/>
              <a:t>scaler.scale(loss)</a:t>
            </a:r>
            <a:r>
              <a:rPr lang="zh-CN" altLang="en-US" sz="1050" dirty="0"/>
              <a:t>缩放损失后再反向传播</a:t>
            </a:r>
            <a:endParaRPr lang="zh-CN" altLang="en-US" sz="105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729413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CC8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6672263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6672263" y="2945606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altLang="zh-CN" sz="1050" dirty="0"/>
              <a:t>1</a:t>
            </a:r>
            <a:r>
              <a:rPr lang="zh-CN" altLang="en-US" sz="1050" dirty="0"/>
              <a:t>、</a:t>
            </a:r>
            <a:r>
              <a:rPr lang="en-US" altLang="zh-CN" sz="1050" dirty="0"/>
              <a:t>scaler.step(optimizer)</a:t>
            </a:r>
            <a:r>
              <a:rPr lang="zh-CN" altLang="en-US" sz="1050" dirty="0"/>
              <a:t>自动反缩放梯度并执行优化器更新；</a:t>
            </a:r>
            <a:endParaRPr lang="zh-CN" altLang="en-US" sz="1050" dirty="0"/>
          </a:p>
          <a:p>
            <a:pPr marL="0" indent="0" algn="ctr">
              <a:lnSpc>
                <a:spcPts val="1650"/>
              </a:lnSpc>
              <a:buNone/>
            </a:pPr>
            <a:r>
              <a:rPr lang="en-US" altLang="zh-CN" sz="1050" dirty="0"/>
              <a:t>2</a:t>
            </a:r>
            <a:r>
              <a:rPr lang="zh-CN" altLang="en-US" sz="1050" dirty="0"/>
              <a:t>、</a:t>
            </a:r>
            <a:r>
              <a:rPr lang="en-US" altLang="zh-CN" sz="1050" dirty="0"/>
              <a:t>scaler.update()</a:t>
            </a:r>
            <a:r>
              <a:rPr lang="zh-CN" altLang="en-US" sz="1050" dirty="0"/>
              <a:t>根据梯度情况调整缩放系数，保证训练稳定性。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模型核心定位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DCA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328863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本质上是基于大模型嵌入的文本分类模型，使用了大模型输出的文本向量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99561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DCA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65500" y="2328863"/>
            <a:ext cx="2413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基于预训练大模型生成的文本表征，通过轻量级门控融合网络学习账号级文本组合模式，属于大模型驱动的高效轻量化分类模型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65500" y="32051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DCA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59500" y="2328863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简介、历史文本都是用大模型编码成向量，语义能力来自 LLM。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159500" y="2786063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第二章 采集流程设计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336F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利用Playwright模拟游客会话，稳定获取微博公开接口数据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00250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675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771525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启动无头浏览器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1525" y="2945606"/>
            <a:ext cx="1700213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使用Playwright模拟真实用户操作，启动无头浏览器环境，确保行为接近真实访问。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95588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CC8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2738438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获取游客Cookie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38438" y="2945606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自动获取并维护微博游客级Cookie，保障请求具备合法会话身份，提升通过率。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98A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705350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稳定请求环境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5350" y="2945606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依托浏览器上下文降低IP封禁与限流风险，增强请求稳定性与持续性。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29413" y="2226469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4CC8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672263" y="2693194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采集公开数据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72263" y="2945606"/>
            <a:ext cx="1700213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结合m.weibo.cn API高效抓取账号资料与公开微博内容，实现可靠数据获取。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16152" b="16152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全面采集账号资料与近期微博内容，覆盖多维行为字段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2019300"/>
            <a:ext cx="2085975" cy="22669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资料采集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读取账号基础资料，包括昵称、认证信息、粉丝数等关键属性。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86025" y="2019300"/>
            <a:ext cx="2085975" cy="2266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38450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微博抓取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38450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获取目标账号最近若干条公开微博，确保内容时效性与代表性。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2019300"/>
            <a:ext cx="2085975" cy="22669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24425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字段解析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924425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提取每条微博的正文、点赞、转发、评论、话题及转发状态等字段。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57975" y="2019300"/>
            <a:ext cx="2085975" cy="22669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10400" y="2869406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数据规整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010400" y="315991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将原始数据统一转换为内部结构化格式，便于后续特征提取与分析。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5DCAEF"/>
          </a:solidFill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3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4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5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6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7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8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9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0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1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2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3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4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5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6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7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8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19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0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1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2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3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4.xml><?xml version="1.0" encoding="utf-8"?>
<p:tagLst xmlns:p="http://schemas.openxmlformats.org/presentationml/2006/main">
  <p:tag name="KSO_WM_DIAGRAM_VIRTUALLY_FRAME" val="{&quot;height&quot;:178.5,&quot;left&quot;:31.5,&quot;top&quot;:159,&quot;width&quot;:657}"/>
</p:tagLst>
</file>

<file path=ppt/tags/tag25.xml><?xml version="1.0" encoding="utf-8"?>
<p:tagLst xmlns:p="http://schemas.openxmlformats.org/presentationml/2006/main">
  <p:tag name="KSO_WM_DIAGRAM_VIRTUALLY_FRAME" val="{&quot;height&quot;:115.75,&quot;left&quot;:45,&quot;top&quot;:157.5,&quot;width&quot;:630}"/>
</p:tagLst>
</file>

<file path=ppt/tags/tag26.xml><?xml version="1.0" encoding="utf-8"?>
<p:tagLst xmlns:p="http://schemas.openxmlformats.org/presentationml/2006/main">
  <p:tag name="KSO_WM_DIAGRAM_VIRTUALLY_FRAME" val="{&quot;height&quot;:115.75,&quot;left&quot;:45,&quot;top&quot;:157.5,&quot;width&quot;:630}"/>
</p:tagLst>
</file>

<file path=ppt/tags/tag27.xml><?xml version="1.0" encoding="utf-8"?>
<p:tagLst xmlns:p="http://schemas.openxmlformats.org/presentationml/2006/main">
  <p:tag name="KSO_WM_DIAGRAM_VIRTUALLY_FRAME" val="{&quot;height&quot;:115.75,&quot;left&quot;:45,&quot;top&quot;:157.5,&quot;width&quot;:630}"/>
</p:tagLst>
</file>

<file path=ppt/tags/tag28.xml><?xml version="1.0" encoding="utf-8"?>
<p:tagLst xmlns:p="http://schemas.openxmlformats.org/presentationml/2006/main">
  <p:tag name="KSO_WM_DIAGRAM_VIRTUALLY_FRAME" val="{&quot;height&quot;:115.75,&quot;left&quot;:45,&quot;top&quot;:157.5,&quot;width&quot;:630}"/>
</p:tagLst>
</file>

<file path=ppt/tags/tag29.xml><?xml version="1.0" encoding="utf-8"?>
<p:tagLst xmlns:p="http://schemas.openxmlformats.org/presentationml/2006/main">
  <p:tag name="KSO_WM_DIAGRAM_VIRTUALLY_FRAME" val="{&quot;height&quot;:115.75,&quot;left&quot;:45,&quot;top&quot;:157.5,&quot;width&quot;:630}"/>
</p:tagLst>
</file>

<file path=ppt/tags/tag30.xml><?xml version="1.0" encoding="utf-8"?>
<p:tagLst xmlns:p="http://schemas.openxmlformats.org/presentationml/2006/main">
  <p:tag name="KSO_WM_DIAGRAM_VIRTUALLY_FRAME" val="{&quot;height&quot;:115.75,&quot;left&quot;:45,&quot;top&quot;:157.5,&quot;width&quot;:630}"/>
</p:tagLst>
</file>

<file path=ppt/tags/tag31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2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3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4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5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6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7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8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39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40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41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42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ags/tag43.xml><?xml version="1.0" encoding="utf-8"?>
<p:tagLst xmlns:p="http://schemas.openxmlformats.org/presentationml/2006/main">
  <p:tag name="KSO_WM_DIAGRAM_VIRTUALLY_FRAME" val="{&quot;height&quot;:153,&quot;left&quot;:30,&quot;top&quot;:157.5,&quot;width&quot;:6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1522</Words>
  <Application>WPS 演示</Application>
  <PresentationFormat>On-screen Show (16:9)</PresentationFormat>
  <Paragraphs>185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Cherish</cp:lastModifiedBy>
  <cp:revision>10</cp:revision>
  <dcterms:created xsi:type="dcterms:W3CDTF">2026-04-02T15:56:00Z</dcterms:created>
  <dcterms:modified xsi:type="dcterms:W3CDTF">2026-04-07T13:05:47Z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681FB9C9C69A460EB585633B16D1D109_12</vt:lpwstr>
  </property>
  <property fmtid="{D5CDD505-2E9C-101B-9397-08002B2CF9AE}" pid="3" name="KSOProductBuildVer">
    <vt:lpwstr>2052-12.1.0.23542</vt:lpwstr>
  </property>
</Properties>
</file>